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78D7E4"/>
    <a:srgbClr val="3AA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40944" y="-19050"/>
            <a:ext cx="9261144" cy="5250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733550"/>
            <a:ext cx="7467600" cy="9667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C04C1E-E9C4-407F-9E27-5C4C6212FD3D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1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5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4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3950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3950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1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3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6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3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2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3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0472" y="0"/>
            <a:ext cx="9164472" cy="5196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9800" y="205979"/>
            <a:ext cx="6477000" cy="689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04C1E-E9C4-407F-9E27-5C4C6212FD3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68D0C-AB3B-4C74-86EE-CDE1C45B8E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b="1" dirty="0">
                <a:solidFill>
                  <a:schemeClr val="tx2"/>
                </a:solidFill>
              </a:rPr>
              <a:t>Индивидуальный проект </a:t>
            </a:r>
            <a:br>
              <a:rPr lang="ru-RU" b="1" dirty="0">
                <a:solidFill>
                  <a:schemeClr val="tx2"/>
                </a:solidFill>
              </a:rPr>
            </a:br>
            <a:r>
              <a:rPr lang="ru-RU" b="1" dirty="0">
                <a:solidFill>
                  <a:srgbClr val="FFC000"/>
                </a:solidFill>
              </a:rPr>
              <a:t> </a:t>
            </a:r>
            <a:r>
              <a:rPr lang="ru-RU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Мобильное приложение «</a:t>
            </a:r>
            <a:r>
              <a:rPr lang="ru-RU" b="1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Словотека</a:t>
            </a:r>
            <a:r>
              <a:rPr lang="ru-RU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»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Subtitle 4"/>
          <p:cNvSpPr txBox="1">
            <a:spLocks noGrp="1"/>
          </p:cNvSpPr>
          <p:nvPr>
            <p:ph type="subTitle" idx="1"/>
          </p:nvPr>
        </p:nvSpPr>
        <p:spPr>
          <a:xfrm>
            <a:off x="990600" y="3028950"/>
            <a:ext cx="1828800" cy="152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Город</a:t>
            </a:r>
            <a:r>
              <a:rPr lang="ru-RU" sz="1600" dirty="0">
                <a:solidFill>
                  <a:schemeClr val="bg1"/>
                </a:solidFill>
              </a:rPr>
              <a:t>:</a:t>
            </a:r>
          </a:p>
          <a:p>
            <a:pPr algn="r"/>
            <a:r>
              <a:rPr lang="ru-RU" sz="1600" dirty="0"/>
              <a:t>Площадка: 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Учащийся:</a:t>
            </a:r>
          </a:p>
          <a:p>
            <a:pPr algn="r"/>
            <a:r>
              <a:rPr lang="ru-RU" sz="1600" dirty="0"/>
              <a:t>Преподаватель: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Дата: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895600" y="3028950"/>
            <a:ext cx="3733800" cy="155734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Новосибирск</a:t>
            </a:r>
          </a:p>
          <a:p>
            <a:pPr lvl="0">
              <a:spcBef>
                <a:spcPct val="20000"/>
              </a:spcBef>
              <a:defRPr/>
            </a:pPr>
            <a:r>
              <a:rPr lang="ru-RU" sz="1600" dirty="0">
                <a:solidFill>
                  <a:schemeClr val="bg1"/>
                </a:solidFill>
              </a:rPr>
              <a:t>МАОУ «</a:t>
            </a:r>
            <a:r>
              <a:rPr lang="ru-RU" dirty="0">
                <a:solidFill>
                  <a:schemeClr val="bg1"/>
                </a:solidFill>
              </a:rPr>
              <a:t>Инженерный лицей НГТУ»</a:t>
            </a:r>
            <a:endParaRPr lang="ru-RU" sz="1600" dirty="0">
              <a:solidFill>
                <a:schemeClr val="bg1"/>
              </a:solidFill>
            </a:endParaRPr>
          </a:p>
          <a:p>
            <a:pPr lvl="0">
              <a:spcBef>
                <a:spcPct val="20000"/>
              </a:spcBef>
              <a:defRPr/>
            </a:pPr>
            <a:r>
              <a:rPr lang="ru-RU" sz="1600" dirty="0" err="1">
                <a:solidFill>
                  <a:schemeClr val="bg1"/>
                </a:solidFill>
              </a:rPr>
              <a:t>Тяжева</a:t>
            </a:r>
            <a:r>
              <a:rPr lang="ru-RU" sz="1600" dirty="0">
                <a:solidFill>
                  <a:schemeClr val="bg1"/>
                </a:solidFill>
              </a:rPr>
              <a:t> Александра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Муль Павел Фридрихович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</a:rPr>
              <a:t>26 мая 2026 г.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35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и назначение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5B8FC-AD7B-F766-C48B-F5EEDFE1CFCA}"/>
              </a:ext>
            </a:extLst>
          </p:cNvPr>
          <p:cNvSpPr txBox="1"/>
          <p:nvPr/>
        </p:nvSpPr>
        <p:spPr>
          <a:xfrm>
            <a:off x="228600" y="2057523"/>
            <a:ext cx="4572000" cy="1718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ru-RU" sz="2000" b="1" dirty="0"/>
              <a:t>Проблема: </a:t>
            </a:r>
            <a:r>
              <a:rPr lang="ru-RU" sz="2000" dirty="0"/>
              <a:t>скудный словарный запас, традиционная зубрёжка готовых списков слов неэффективна.</a:t>
            </a:r>
          </a:p>
          <a:p>
            <a:pPr marL="342900" indent="-342900" algn="just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0A0A0A"/>
              </a:solidFill>
              <a:effectLst/>
            </a:endParaRP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ru-RU" sz="2000" b="1" dirty="0"/>
              <a:t>Решение:</a:t>
            </a:r>
            <a:r>
              <a:rPr lang="ru-RU" sz="2000" dirty="0"/>
              <a:t> личный цифровой словарь с фокусом на активное вспоминание.</a:t>
            </a:r>
          </a:p>
          <a:p>
            <a:pPr algn="just">
              <a:lnSpc>
                <a:spcPts val="1800"/>
              </a:lnSpc>
            </a:pPr>
            <a:endParaRPr lang="ru-RU" sz="2000" b="0" i="0" dirty="0">
              <a:solidFill>
                <a:srgbClr val="0A0A0A"/>
              </a:solidFill>
              <a:effectLst/>
            </a:endParaRPr>
          </a:p>
        </p:txBody>
      </p:sp>
      <p:pic>
        <p:nvPicPr>
          <p:cNvPr id="8" name="Рисунок 7" descr="Кавказская уставшая девушка учится дома Думающий ребенок сидит за партой и  пишет Снова в школу | Премиум вектор">
            <a:extLst>
              <a:ext uri="{FF2B5EF4-FFF2-40B4-BE49-F238E27FC236}">
                <a16:creationId xmlns:a16="http://schemas.microsoft.com/office/drawing/2014/main" id="{B2FF8822-EDEE-FEB0-BA31-411CFF4F9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102" y="1202104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3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1AE0-9B1D-A049-D7AD-091FDF13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3F79-2009-C50F-66FD-EE4F2940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 работы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3D4D2-B777-6755-3439-273EE8271E22}"/>
              </a:ext>
            </a:extLst>
          </p:cNvPr>
          <p:cNvSpPr txBox="1"/>
          <p:nvPr/>
        </p:nvSpPr>
        <p:spPr>
          <a:xfrm>
            <a:off x="1600200" y="1884700"/>
            <a:ext cx="1752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Добавление слов в «Библиотеку»</a:t>
            </a:r>
            <a:endParaRPr lang="en-US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112A5-202C-34EF-38FD-9649F3449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6350"/>
            <a:ext cx="1193125" cy="11931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8C93B1-D9EC-8B7C-A2F9-88B11ABD84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3562350"/>
            <a:ext cx="1193125" cy="1193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BD876A-2D81-A99C-A119-28C4A2987A10}"/>
              </a:ext>
            </a:extLst>
          </p:cNvPr>
          <p:cNvSpPr txBox="1"/>
          <p:nvPr/>
        </p:nvSpPr>
        <p:spPr>
          <a:xfrm>
            <a:off x="1600200" y="3924478"/>
            <a:ext cx="1752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Быстрый поиск и повторение лексики на ходу</a:t>
            </a:r>
            <a:endParaRPr lang="en-US" sz="16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425295-76A4-855E-4743-FF5BC03242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3556310"/>
            <a:ext cx="1193125" cy="1193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D8EE9A-08AD-4F4B-8227-1178B6648AB6}"/>
              </a:ext>
            </a:extLst>
          </p:cNvPr>
          <p:cNvSpPr txBox="1"/>
          <p:nvPr/>
        </p:nvSpPr>
        <p:spPr>
          <a:xfrm>
            <a:off x="6859803" y="3918438"/>
            <a:ext cx="1752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Запуск интерактивного Квиз-теста</a:t>
            </a:r>
            <a:endParaRPr lang="en-US" sz="16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D8E890C-C3E5-DB6A-6BF8-61002B61E9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378625"/>
            <a:ext cx="1193125" cy="11931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194835-637A-C299-F058-B2EAEAFA61B5}"/>
              </a:ext>
            </a:extLst>
          </p:cNvPr>
          <p:cNvSpPr txBox="1"/>
          <p:nvPr/>
        </p:nvSpPr>
        <p:spPr>
          <a:xfrm>
            <a:off x="6831924" y="1740753"/>
            <a:ext cx="20834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Автоматическая проверка знаний и визуальный отклик</a:t>
            </a:r>
            <a:endParaRPr lang="en-US" sz="1600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F99471B-F3A6-6611-BD13-85CA0EFD38B9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2476500" y="2469475"/>
            <a:ext cx="0" cy="14550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FC2C0AA-2574-1B02-7BD8-C456AFAD2AB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352800" y="4339977"/>
            <a:ext cx="21336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596C53B5-5335-24DC-A0DC-17246059E2C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873662" y="2571750"/>
            <a:ext cx="0" cy="1455003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75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2B88-9F0F-185F-4722-DAF8E577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454D-DD76-FBF1-50E7-BD3A75F41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33350"/>
            <a:ext cx="6705600" cy="689371"/>
          </a:xfrm>
        </p:spPr>
        <p:txBody>
          <a:bodyPr>
            <a:noAutofit/>
          </a:bodyPr>
          <a:lstStyle/>
          <a:p>
            <a:r>
              <a:rPr lang="ru-RU" sz="2800" b="1" dirty="0"/>
              <a:t>Архитектура и дополнительные средства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86D2F-FA9E-A102-1A2E-D93924BB5A56}"/>
              </a:ext>
            </a:extLst>
          </p:cNvPr>
          <p:cNvSpPr txBox="1"/>
          <p:nvPr/>
        </p:nvSpPr>
        <p:spPr>
          <a:xfrm>
            <a:off x="174266" y="1892011"/>
            <a:ext cx="5943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Язык:</a:t>
            </a:r>
            <a:r>
              <a:rPr lang="ru-RU" sz="2000" dirty="0"/>
              <a:t> </a:t>
            </a:r>
            <a:r>
              <a:rPr lang="en-US" sz="2000" dirty="0"/>
              <a:t>Java (Android SDK)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База данных:</a:t>
            </a:r>
            <a:r>
              <a:rPr lang="ru-RU" sz="2000" dirty="0"/>
              <a:t> </a:t>
            </a:r>
            <a:r>
              <a:rPr lang="en-US" sz="2000" dirty="0"/>
              <a:t>Room DB (SQLite)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Архитектура:</a:t>
            </a:r>
            <a:r>
              <a:rPr lang="ru-RU" sz="2000" dirty="0"/>
              <a:t> </a:t>
            </a:r>
            <a:r>
              <a:rPr lang="en-US" sz="2000" dirty="0"/>
              <a:t>MVVM (</a:t>
            </a:r>
            <a:r>
              <a:rPr lang="en-US" sz="2000" dirty="0" err="1"/>
              <a:t>ViewModel</a:t>
            </a:r>
            <a:r>
              <a:rPr lang="en-US" sz="2000" dirty="0"/>
              <a:t>, </a:t>
            </a:r>
            <a:r>
              <a:rPr lang="en-US" sz="2000" dirty="0" err="1"/>
              <a:t>LiveData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Инструменты: </a:t>
            </a:r>
            <a:r>
              <a:rPr lang="en-US" sz="2000" dirty="0"/>
              <a:t>View Binding, Material Components.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4D15EF-DC71-DA6C-A76C-9A75EBD5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2"/>
          <a:stretch>
            <a:fillRect/>
          </a:stretch>
        </p:blipFill>
        <p:spPr>
          <a:xfrm>
            <a:off x="6117866" y="1890617"/>
            <a:ext cx="2752928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CF19-858C-3A25-1766-6AAFF6FB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BA60-7A65-1480-852F-8021F766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Главный экран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C01AC-1A0D-4469-A58C-CFC01F63F2D4}"/>
              </a:ext>
            </a:extLst>
          </p:cNvPr>
          <p:cNvSpPr txBox="1"/>
          <p:nvPr/>
        </p:nvSpPr>
        <p:spPr>
          <a:xfrm>
            <a:off x="312612" y="1657350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Минималистичный дизайн в кремовых, бордовом и синем тонах.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Быстрый переход к тренировке или библиотеке.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Встроенный Cambridge </a:t>
            </a:r>
            <a:r>
              <a:rPr lang="ru-RU" sz="2000" dirty="0" err="1"/>
              <a:t>Dictionary</a:t>
            </a:r>
            <a:r>
              <a:rPr lang="ru-RU" sz="2000" dirty="0"/>
              <a:t> для проверки контекста.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AEB9B4-F28C-C722-C125-BCE70942A3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" b="1"/>
          <a:stretch>
            <a:fillRect/>
          </a:stretch>
        </p:blipFill>
        <p:spPr>
          <a:xfrm>
            <a:off x="5444583" y="1123950"/>
            <a:ext cx="1581440" cy="34884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E5E33D-BE1B-E837-70D0-273A66DA5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"/>
          <a:stretch>
            <a:fillRect/>
          </a:stretch>
        </p:blipFill>
        <p:spPr>
          <a:xfrm>
            <a:off x="7315200" y="1123950"/>
            <a:ext cx="1581440" cy="34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0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ADAF-2B8C-C870-E913-B33AA30B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2709-1A40-46CE-B027-18D6EC82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Личная библиотека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57D8C-AB76-BA26-A845-A04948332762}"/>
              </a:ext>
            </a:extLst>
          </p:cNvPr>
          <p:cNvSpPr txBox="1"/>
          <p:nvPr/>
        </p:nvSpPr>
        <p:spPr>
          <a:xfrm>
            <a:off x="304800" y="1667110"/>
            <a:ext cx="5029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Добавление собственных слов без ограничений.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Мгновенный поиск: фильтрация списка на ходу при вводе первых букв перевода или слова.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Управление жестами: удаление выученного слова </a:t>
            </a:r>
            <a:r>
              <a:rPr lang="ru-RU" sz="2000" dirty="0" err="1"/>
              <a:t>свайпом</a:t>
            </a:r>
            <a:r>
              <a:rPr lang="ru-RU" sz="2000" dirty="0"/>
              <a:t> влево.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D8B992-C84A-1DF7-FE3C-DCE86E0AA1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" b="118"/>
          <a:stretch/>
        </p:blipFill>
        <p:spPr>
          <a:xfrm>
            <a:off x="5444583" y="1123950"/>
            <a:ext cx="1581440" cy="34884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27C366-EBF3-A159-F03E-E728094F4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" b="118"/>
          <a:stretch/>
        </p:blipFill>
        <p:spPr>
          <a:xfrm>
            <a:off x="7315200" y="1123950"/>
            <a:ext cx="1581440" cy="34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3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A7AC-DD78-BEBA-C710-12FAFE36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AFCC-C866-FC6C-8E7A-89AC2ABA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Режим «Квиз» / Тренажер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61080-04D8-128C-99C8-0F9E7C83D7C1}"/>
              </a:ext>
            </a:extLst>
          </p:cNvPr>
          <p:cNvSpPr txBox="1"/>
          <p:nvPr/>
        </p:nvSpPr>
        <p:spPr>
          <a:xfrm>
            <a:off x="304800" y="1667110"/>
            <a:ext cx="5029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Механика активного вспоминания (ручной ввод перевода).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Геймификация: Интуитивный цветовой отклик (зеленая вспышка при успехе).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Встроенный счетчик оставшихся слов.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Защита от случайного выхода (диалоговое окно).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EC1C7E-9D98-8DC4-7080-B9F8234C51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" b="118"/>
          <a:stretch/>
        </p:blipFill>
        <p:spPr>
          <a:xfrm>
            <a:off x="5444583" y="1123950"/>
            <a:ext cx="1581440" cy="34884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BC42C2-BACF-0104-EDF7-FCD68E635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" b="118"/>
          <a:stretch/>
        </p:blipFill>
        <p:spPr>
          <a:xfrm>
            <a:off x="7315200" y="1123950"/>
            <a:ext cx="1581440" cy="34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6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6BE3-AF58-2BFF-E6CB-C184AE83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06C1-A588-CE09-F66E-68958F43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Требования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E55EE-2463-4E63-CA57-0DDB5D243DB9}"/>
              </a:ext>
            </a:extLst>
          </p:cNvPr>
          <p:cNvSpPr txBox="1"/>
          <p:nvPr/>
        </p:nvSpPr>
        <p:spPr>
          <a:xfrm>
            <a:off x="457200" y="173355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Версия </a:t>
            </a:r>
            <a:r>
              <a:rPr lang="ru-RU" sz="2000" b="1" dirty="0" err="1"/>
              <a:t>Android</a:t>
            </a:r>
            <a:r>
              <a:rPr lang="ru-RU" sz="2000" b="1" dirty="0"/>
              <a:t>: </a:t>
            </a:r>
            <a:r>
              <a:rPr lang="ru-RU" sz="2000" dirty="0"/>
              <a:t>7.0 </a:t>
            </a:r>
            <a:r>
              <a:rPr lang="ru-RU" sz="2000" dirty="0" err="1"/>
              <a:t>Nougat</a:t>
            </a:r>
            <a:r>
              <a:rPr lang="ru-RU" sz="2000" dirty="0"/>
              <a:t> и выше</a:t>
            </a:r>
            <a:r>
              <a:rPr lang="en-US" sz="20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Занимаемая память: </a:t>
            </a:r>
            <a:r>
              <a:rPr lang="en-US" sz="2000" dirty="0"/>
              <a:t>~</a:t>
            </a:r>
            <a:r>
              <a:rPr lang="ru-RU" sz="2000" dirty="0"/>
              <a:t>7.25 Мб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Разрешения: </a:t>
            </a:r>
            <a:r>
              <a:rPr lang="en-US" sz="2000" b="1" dirty="0"/>
              <a:t> </a:t>
            </a:r>
            <a:r>
              <a:rPr lang="ru-RU" sz="2000" dirty="0"/>
              <a:t>доступ в интернет (для работы встроенного словаря)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/>
              <a:t>Диагональ экрана: </a:t>
            </a:r>
            <a:r>
              <a:rPr lang="ru-RU" sz="2000" dirty="0"/>
              <a:t>Любая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2E1F31-B9F8-92AD-A698-73465781BB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600372"/>
            <a:ext cx="533400" cy="533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366D49-3357-E2A3-7B04-8FE86915A3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6800" y="2256945"/>
            <a:ext cx="533400" cy="533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8DBC4E-174A-1F6D-D944-20B467C4BA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4995" y="2856934"/>
            <a:ext cx="533400" cy="533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9266DC-2D20-916F-EEF3-D8C0AA89A0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0" y="3446919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4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B222-23BD-AEE6-20E3-58BF5A16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DFC4-8906-3D20-0979-19289861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Перспективы развития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633AB-8412-6926-6184-DB6084576472}"/>
              </a:ext>
            </a:extLst>
          </p:cNvPr>
          <p:cNvSpPr txBox="1"/>
          <p:nvPr/>
        </p:nvSpPr>
        <p:spPr>
          <a:xfrm>
            <a:off x="457200" y="2121634"/>
            <a:ext cx="5638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Группировка слов по </a:t>
            </a:r>
            <a:r>
              <a:rPr lang="ru-RU" sz="2000" b="1" dirty="0"/>
              <a:t>категориям</a:t>
            </a:r>
            <a:r>
              <a:rPr lang="ru-RU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Добавление </a:t>
            </a:r>
            <a:r>
              <a:rPr lang="ru-RU" sz="2000" b="1" dirty="0"/>
              <a:t>новых режимов </a:t>
            </a:r>
            <a:r>
              <a:rPr lang="ru-RU" sz="2000" dirty="0"/>
              <a:t>в тренажере.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Внедрение </a:t>
            </a:r>
            <a:r>
              <a:rPr lang="ru-RU" sz="2000" b="1" dirty="0"/>
              <a:t>темной темы</a:t>
            </a:r>
            <a:r>
              <a:rPr lang="ru-RU" sz="2000" dirty="0"/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D8FCE1-E539-B579-1589-7470CFB7A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60" y="1756142"/>
            <a:ext cx="2362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3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2638-AC90-2C32-2DED-6C4D4C88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B634-5B56-F1A0-F30B-2ED8A1590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2227064"/>
            <a:ext cx="6477000" cy="689371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Спасибо за внимание!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57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273</Words>
  <Application>Microsoft Office PowerPoint</Application>
  <PresentationFormat>Экран (16:9)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Индивидуальный проект   Мобильное приложение «Словотека»</vt:lpstr>
      <vt:lpstr>Проблема и назначение</vt:lpstr>
      <vt:lpstr>Принцип работы</vt:lpstr>
      <vt:lpstr>Архитектура и дополнительные средства</vt:lpstr>
      <vt:lpstr>Главный экран</vt:lpstr>
      <vt:lpstr> Личная библиотека</vt:lpstr>
      <vt:lpstr> Режим «Квиз» / Тренажер</vt:lpstr>
      <vt:lpstr>Требования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Yulia Bortsova</dc:creator>
  <cp:lastModifiedBy>Sashulka ⠀</cp:lastModifiedBy>
  <cp:revision>13</cp:revision>
  <dcterms:created xsi:type="dcterms:W3CDTF">2014-12-12T07:51:53Z</dcterms:created>
  <dcterms:modified xsi:type="dcterms:W3CDTF">2026-05-25T16:27:29Z</dcterms:modified>
</cp:coreProperties>
</file>